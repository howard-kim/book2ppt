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7"/>
  </p:notesMasterIdLst>
  <p:sldIdLst>
    <p:sldId id="372" r:id="rId2"/>
    <p:sldId id="377" r:id="rId3"/>
    <p:sldId id="378" r:id="rId4"/>
    <p:sldId id="373" r:id="rId5"/>
    <p:sldId id="375" r:id="rId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55" autoAdjust="0"/>
    <p:restoredTop sz="94660"/>
  </p:normalViewPr>
  <p:slideViewPr>
    <p:cSldViewPr snapToGrid="0">
      <p:cViewPr varScale="1">
        <p:scale>
          <a:sx n="93" d="100"/>
          <a:sy n="93" d="100"/>
        </p:scale>
        <p:origin x="136" y="284"/>
      </p:cViewPr>
      <p:guideLst/>
    </p:cSldViewPr>
  </p:slideViewPr>
  <p:notesTextViewPr>
    <p:cViewPr>
      <p:scale>
        <a:sx n="3" d="2"/>
        <a:sy n="3" d="2"/>
      </p:scale>
      <p:origin x="0" y="0"/>
    </p:cViewPr>
  </p:notesTextViewPr>
  <p:notesViewPr>
    <p:cSldViewPr snapToGrid="0">
      <p:cViewPr varScale="1">
        <p:scale>
          <a:sx n="81" d="100"/>
          <a:sy n="81" d="100"/>
        </p:scale>
        <p:origin x="1924" y="6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7A5B62-81B0-44F2-B1FB-A5F59081F339}" type="datetimeFigureOut">
              <a:rPr lang="ko-KR" altLang="en-US" smtClean="0"/>
              <a:t>2026-03-24</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3ABBE3-E69F-4411-92C8-232DE0273799}" type="slidenum">
              <a:rPr lang="ko-KR" altLang="en-US" smtClean="0"/>
              <a:t>‹#›</a:t>
            </a:fld>
            <a:endParaRPr lang="ko-KR" altLang="en-US"/>
          </a:p>
        </p:txBody>
      </p:sp>
    </p:spTree>
    <p:extLst>
      <p:ext uri="{BB962C8B-B14F-4D97-AF65-F5344CB8AC3E}">
        <p14:creationId xmlns:p14="http://schemas.microsoft.com/office/powerpoint/2010/main" val="237803183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cxnSp>
        <p:nvCxnSpPr>
          <p:cNvPr id="3" name="직선 연결선 2">
            <a:extLst>
              <a:ext uri="{FF2B5EF4-FFF2-40B4-BE49-F238E27FC236}">
                <a16:creationId xmlns:a16="http://schemas.microsoft.com/office/drawing/2014/main" id="{F4043F98-284C-42C3-259F-82DAE7ADB6E7}"/>
              </a:ext>
            </a:extLst>
          </p:cNvPr>
          <p:cNvCxnSpPr>
            <a:cxnSpLocks/>
          </p:cNvCxnSpPr>
          <p:nvPr userDrawn="1"/>
        </p:nvCxnSpPr>
        <p:spPr>
          <a:xfrm>
            <a:off x="199623" y="502276"/>
            <a:ext cx="87447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290032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7855448"/>
      </p:ext>
    </p:extLst>
  </p:cSld>
  <p:clrMap bg1="dk1" tx1="lt1" bg2="dk2" tx2="lt2" accent1="accent1" accent2="accent2" accent3="accent3" accent4="accent4" accent5="accent5" accent6="accent6" hlink="hlink" folHlink="folHlink"/>
  <p:sldLayoutIdLst>
    <p:sldLayoutId id="2147483679" r:id="rId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FB4B5C3-F4B9-35CC-2686-1C1136807E17}"/>
              </a:ext>
            </a:extLst>
          </p:cNvPr>
          <p:cNvSpPr txBox="1"/>
          <p:nvPr/>
        </p:nvSpPr>
        <p:spPr>
          <a:xfrm>
            <a:off x="736092" y="2037534"/>
            <a:ext cx="7671816" cy="3477875"/>
          </a:xfrm>
          <a:prstGeom prst="rect">
            <a:avLst/>
          </a:prstGeom>
          <a:noFill/>
        </p:spPr>
        <p:txBody>
          <a:bodyPr wrap="square">
            <a:spAutoFit/>
          </a:bodyPr>
          <a:lstStyle/>
          <a:p>
            <a:pPr marR="0" algn="just" rtl="0"/>
            <a:r>
              <a:rPr lang="en-US" altLang="ko-KR" sz="3000" b="0" i="0" u="none" strike="noStrike" baseline="30000" dirty="0">
                <a:latin typeface="Times New Roman" panose="02020603050405020304" pitchFamily="18" charset="0"/>
              </a:rPr>
              <a:t>For a story to be considered </a:t>
            </a:r>
            <a:r>
              <a:rPr lang="ko-KR" altLang="en-US" sz="3000" b="0" i="0" u="none" strike="noStrike" baseline="30000" dirty="0">
                <a:latin typeface="Times New Roman" panose="02020603050405020304" pitchFamily="18" charset="0"/>
              </a:rPr>
              <a:t>‘</a:t>
            </a:r>
            <a:r>
              <a:rPr lang="en-US" altLang="ko-KR" sz="3000" b="0" i="0" u="none" strike="noStrike" baseline="30000" dirty="0">
                <a:latin typeface="Times New Roman" panose="02020603050405020304" pitchFamily="18" charset="0"/>
              </a:rPr>
              <a:t>fantasy,</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it needs to contain some sort of magic system, in short, things that occur or exist in your story that cannot exist in the real world. These include elements of sorcery, witchcraft, and enchantment; fantastical creatures and the supernatural; or advanced</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abilities or powers. Basically, anything with no basis in real-world evidence or logic can be considered magic. This is where you can really set your story apart from others in (A) the genre. If your magic system is unique and imaginative, your novel has a point of difference. An innovative, intriguing magic system is often the key to helping your novel stand out in the saturated fantasy market. Your magic system should play a key part in your story.</a:t>
            </a:r>
            <a:endParaRPr lang="ko-KR" altLang="en-US" sz="3000" b="0" i="0" u="none" strike="noStrike" baseline="30000" dirty="0">
              <a:latin typeface="Times New Roman" panose="02020603050405020304" pitchFamily="18" charset="0"/>
            </a:endParaRPr>
          </a:p>
        </p:txBody>
      </p:sp>
      <p:grpSp>
        <p:nvGrpSpPr>
          <p:cNvPr id="4" name="Group 7">
            <a:extLst>
              <a:ext uri="{FF2B5EF4-FFF2-40B4-BE49-F238E27FC236}">
                <a16:creationId xmlns:a16="http://schemas.microsoft.com/office/drawing/2014/main" id="{72599B0F-10C1-1D06-C6A6-6326A3909BF9}"/>
              </a:ext>
            </a:extLst>
          </p:cNvPr>
          <p:cNvGrpSpPr/>
          <p:nvPr/>
        </p:nvGrpSpPr>
        <p:grpSpPr>
          <a:xfrm>
            <a:off x="736092" y="1112607"/>
            <a:ext cx="723308" cy="723308"/>
            <a:chOff x="0" y="-34680"/>
            <a:chExt cx="812800" cy="812800"/>
          </a:xfrm>
        </p:grpSpPr>
        <p:sp>
          <p:nvSpPr>
            <p:cNvPr id="5" name="Freeform 8">
              <a:extLst>
                <a:ext uri="{FF2B5EF4-FFF2-40B4-BE49-F238E27FC236}">
                  <a16:creationId xmlns:a16="http://schemas.microsoft.com/office/drawing/2014/main" id="{BD2524F4-30B8-E2B1-5E16-A9B14BEAA488}"/>
                </a:ext>
              </a:extLst>
            </p:cNvPr>
            <p:cNvSpPr/>
            <p:nvPr/>
          </p:nvSpPr>
          <p:spPr>
            <a:xfrm>
              <a:off x="0" y="-3468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BDB"/>
            </a:solidFill>
          </p:spPr>
          <p:txBody>
            <a:bodyPr/>
            <a:lstStyle/>
            <a:p>
              <a:endParaRPr lang="ko-KR" altLang="en-US"/>
            </a:p>
          </p:txBody>
        </p:sp>
        <p:sp>
          <p:nvSpPr>
            <p:cNvPr id="6" name="TextBox 9">
              <a:extLst>
                <a:ext uri="{FF2B5EF4-FFF2-40B4-BE49-F238E27FC236}">
                  <a16:creationId xmlns:a16="http://schemas.microsoft.com/office/drawing/2014/main" id="{296FA6E9-8C9F-78A7-4F1C-6AAB7497BDDE}"/>
                </a:ext>
              </a:extLst>
            </p:cNvPr>
            <p:cNvSpPr txBox="1"/>
            <p:nvPr/>
          </p:nvSpPr>
          <p:spPr>
            <a:xfrm>
              <a:off x="76200" y="-28575"/>
              <a:ext cx="660400" cy="765175"/>
            </a:xfrm>
            <a:prstGeom prst="rect">
              <a:avLst/>
            </a:prstGeom>
          </p:spPr>
          <p:txBody>
            <a:bodyPr lIns="50800" tIns="50800" rIns="50800" bIns="50800" rtlCol="0" anchor="ctr"/>
            <a:lstStyle/>
            <a:p>
              <a:pPr marL="0" lvl="0" indent="0" algn="ctr">
                <a:lnSpc>
                  <a:spcPts val="3327"/>
                </a:lnSpc>
                <a:spcBef>
                  <a:spcPct val="0"/>
                </a:spcBef>
              </a:pPr>
              <a:r>
                <a:rPr lang="en-US" sz="2376" u="none" strike="noStrike" spc="-38" dirty="0">
                  <a:solidFill>
                    <a:srgbClr val="794A4A"/>
                  </a:solidFill>
                  <a:latin typeface="Pretendard ExtraBold" panose="02000903000000020004" pitchFamily="50" charset="-127"/>
                  <a:ea typeface="Pretendard ExtraBold" panose="02000903000000020004" pitchFamily="50" charset="-127"/>
                  <a:cs typeface="Pretendard ExtraBold" panose="02000903000000020004" pitchFamily="50" charset="-127"/>
                  <a:sym typeface="Jua"/>
                </a:rPr>
                <a:t>1</a:t>
              </a:r>
            </a:p>
          </p:txBody>
        </p:sp>
      </p:grpSp>
    </p:spTree>
    <p:extLst>
      <p:ext uri="{BB962C8B-B14F-4D97-AF65-F5344CB8AC3E}">
        <p14:creationId xmlns:p14="http://schemas.microsoft.com/office/powerpoint/2010/main" val="32704352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420A573-D664-2EF2-2733-BE6926C8C26C}"/>
              </a:ext>
            </a:extLst>
          </p:cNvPr>
          <p:cNvSpPr txBox="1"/>
          <p:nvPr/>
        </p:nvSpPr>
        <p:spPr>
          <a:xfrm>
            <a:off x="420624" y="1532388"/>
            <a:ext cx="7909560" cy="2862322"/>
          </a:xfrm>
          <a:prstGeom prst="rect">
            <a:avLst/>
          </a:prstGeom>
          <a:noFill/>
        </p:spPr>
        <p:txBody>
          <a:bodyPr wrap="square">
            <a:spAutoFit/>
          </a:bodyPr>
          <a:lstStyle/>
          <a:p>
            <a:r>
              <a:rPr lang="en-US" altLang="ko-KR" sz="3000" b="0" i="0" u="none" strike="noStrike" baseline="30000" dirty="0">
                <a:latin typeface="Times New Roman" panose="02020603050405020304" pitchFamily="18" charset="0"/>
              </a:rPr>
              <a:t>1. Which of the following is the best title for the passage?</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0" dirty="0">
                <a:latin typeface="AdobeMyungjoStd-Medium"/>
              </a:rPr>
              <a:t>	</a:t>
            </a:r>
          </a:p>
          <a:p>
            <a:r>
              <a:rPr lang="ko-KR" altLang="en-US" sz="3000" b="0" i="0" u="none" strike="noStrike" baseline="30000" dirty="0">
                <a:latin typeface="AdobeMyungjoStd-Medium"/>
              </a:rPr>
              <a:t>①</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The Similarity Between Magic and Science</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②</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Various Reasons Readers Buy Books</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③</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A Fantasy World: Something Never Experienced</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④</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A Magic System: Fantasy</a:t>
            </a:r>
            <a:r>
              <a:rPr lang="ko-KR" altLang="en-US" sz="3000" b="0" i="0" u="none" strike="noStrike" baseline="30000" dirty="0">
                <a:latin typeface="Times New Roman" panose="02020603050405020304" pitchFamily="18" charset="0"/>
              </a:rPr>
              <a:t>’</a:t>
            </a:r>
            <a:r>
              <a:rPr lang="en-US" altLang="ko-KR" sz="3000" b="0" i="0" u="none" strike="noStrike" baseline="30000" dirty="0">
                <a:latin typeface="Times New Roman" panose="02020603050405020304" pitchFamily="18" charset="0"/>
              </a:rPr>
              <a:t>s Essential Element</a:t>
            </a:r>
            <a:r>
              <a:rPr lang="ko-KR" altLang="en-US" sz="3000" b="0" i="0" u="none" strike="noStrike" baseline="30000" dirty="0">
                <a:latin typeface="AdobeMyungjoStd-Medium"/>
              </a:rPr>
              <a:t>	</a:t>
            </a:r>
            <a:endParaRPr lang="ko-KR" altLang="en-US" sz="3000" b="0" i="0" u="none" strike="noStrike" baseline="0" dirty="0">
              <a:latin typeface="AdobeMyungjoStd-Medium"/>
            </a:endParaRPr>
          </a:p>
        </p:txBody>
      </p:sp>
      <p:sp>
        <p:nvSpPr>
          <p:cNvPr id="4" name="원형: 비어 있음 3">
            <a:extLst>
              <a:ext uri="{FF2B5EF4-FFF2-40B4-BE49-F238E27FC236}">
                <a16:creationId xmlns:a16="http://schemas.microsoft.com/office/drawing/2014/main" id="{3DB66AE1-F884-CCD0-774C-381C42BFEB84}"/>
              </a:ext>
            </a:extLst>
          </p:cNvPr>
          <p:cNvSpPr/>
          <p:nvPr/>
        </p:nvSpPr>
        <p:spPr>
          <a:xfrm>
            <a:off x="420624" y="3813048"/>
            <a:ext cx="411480" cy="411480"/>
          </a:xfrm>
          <a:prstGeom prst="donut">
            <a:avLst>
              <a:gd name="adj" fmla="val 5471"/>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299049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0E99A20-AEAC-A00E-D1C7-BBA55C340729}"/>
              </a:ext>
            </a:extLst>
          </p:cNvPr>
          <p:cNvSpPr txBox="1"/>
          <p:nvPr/>
        </p:nvSpPr>
        <p:spPr>
          <a:xfrm>
            <a:off x="539496" y="1669548"/>
            <a:ext cx="7242048" cy="2862322"/>
          </a:xfrm>
          <a:prstGeom prst="rect">
            <a:avLst/>
          </a:prstGeom>
          <a:noFill/>
        </p:spPr>
        <p:txBody>
          <a:bodyPr wrap="square">
            <a:spAutoFit/>
          </a:bodyPr>
          <a:lstStyle/>
          <a:p>
            <a:r>
              <a:rPr lang="en-US" altLang="ko-KR" sz="3000" b="0" i="0" u="none" strike="noStrike" baseline="30000" dirty="0">
                <a:latin typeface="Times New Roman" panose="02020603050405020304" pitchFamily="18" charset="0"/>
              </a:rPr>
              <a:t>2. Which of the following is referred to by (A)?</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0" dirty="0">
                <a:latin typeface="AdobeMyungjoStd-Medium"/>
              </a:rPr>
              <a:t>	</a:t>
            </a:r>
          </a:p>
          <a:p>
            <a:r>
              <a:rPr lang="ko-KR" altLang="en-US" sz="3000" b="0" i="0" u="none" strike="noStrike" baseline="30000" dirty="0">
                <a:latin typeface="AdobeMyungjoStd-Medium"/>
              </a:rPr>
              <a:t>①</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Fantasy fiction</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②</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Market report</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③</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System manual</a:t>
            </a:r>
            <a:r>
              <a:rPr lang="ko-KR" altLang="en-US" sz="3000" b="0" i="0" u="none" strike="noStrike" baseline="30000" dirty="0">
                <a:latin typeface="AdobeMyungjoStd-Medium"/>
              </a:rPr>
              <a:t>	</a:t>
            </a:r>
            <a:endParaRPr lang="ko-KR" altLang="en-US" sz="3000" b="0" i="0" u="none" strike="noStrike" baseline="0" dirty="0">
              <a:latin typeface="AdobeMyungjoStd-Medium"/>
            </a:endParaRPr>
          </a:p>
          <a:p>
            <a:r>
              <a:rPr lang="ko-KR" altLang="en-US" sz="3000" b="0" i="0" u="none" strike="noStrike" baseline="30000" dirty="0">
                <a:latin typeface="AdobeMyungjoStd-Medium"/>
              </a:rPr>
              <a:t>④</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Book review</a:t>
            </a:r>
            <a:r>
              <a:rPr lang="ko-KR" altLang="en-US" sz="3000" b="0" i="0" u="none" strike="noStrike" baseline="30000" dirty="0">
                <a:latin typeface="AdobeMyungjoStd-Medium"/>
              </a:rPr>
              <a:t>	</a:t>
            </a:r>
            <a:endParaRPr lang="ko-KR" altLang="en-US" sz="3000" b="0" i="0" u="none" strike="noStrike" baseline="0" dirty="0">
              <a:latin typeface="AdobeMyungjoStd-Medium"/>
            </a:endParaRPr>
          </a:p>
        </p:txBody>
      </p:sp>
      <p:sp>
        <p:nvSpPr>
          <p:cNvPr id="4" name="원형: 비어 있음 3">
            <a:extLst>
              <a:ext uri="{FF2B5EF4-FFF2-40B4-BE49-F238E27FC236}">
                <a16:creationId xmlns:a16="http://schemas.microsoft.com/office/drawing/2014/main" id="{186F57F5-9805-87FB-9E5B-3DB74255A146}"/>
              </a:ext>
            </a:extLst>
          </p:cNvPr>
          <p:cNvSpPr/>
          <p:nvPr/>
        </p:nvSpPr>
        <p:spPr>
          <a:xfrm>
            <a:off x="539496" y="2596896"/>
            <a:ext cx="411480" cy="411480"/>
          </a:xfrm>
          <a:prstGeom prst="donut">
            <a:avLst>
              <a:gd name="adj" fmla="val 5471"/>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1088048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92A18B8-8B98-2F89-3AE9-0EE3F983B2DC}"/>
              </a:ext>
            </a:extLst>
          </p:cNvPr>
          <p:cNvSpPr txBox="1"/>
          <p:nvPr/>
        </p:nvSpPr>
        <p:spPr>
          <a:xfrm>
            <a:off x="740664" y="3134160"/>
            <a:ext cx="8092440" cy="400110"/>
          </a:xfrm>
          <a:prstGeom prst="rect">
            <a:avLst/>
          </a:prstGeom>
          <a:noFill/>
        </p:spPr>
        <p:txBody>
          <a:bodyPr wrap="square">
            <a:spAutoFit/>
          </a:bodyPr>
          <a:lstStyle/>
          <a:p>
            <a:pPr marR="0" algn="just" rtl="0"/>
            <a:r>
              <a:rPr lang="en-US" altLang="ko-KR" sz="3000" b="0" i="0" u="none" strike="noStrike" baseline="30000" dirty="0">
                <a:latin typeface="Times New Roman" panose="02020603050405020304" pitchFamily="18" charset="0"/>
              </a:rPr>
              <a:t>This is where you can really set your story apart from others in the genre.</a:t>
            </a:r>
            <a:endParaRPr lang="ko-KR" altLang="en-US" sz="3000" b="0" i="0" u="none" strike="noStrike" baseline="30000" dirty="0">
              <a:latin typeface="Times New Roman" panose="02020603050405020304" pitchFamily="18" charset="0"/>
            </a:endParaRPr>
          </a:p>
        </p:txBody>
      </p:sp>
      <p:sp>
        <p:nvSpPr>
          <p:cNvPr id="4" name="Freeform 32">
            <a:extLst>
              <a:ext uri="{FF2B5EF4-FFF2-40B4-BE49-F238E27FC236}">
                <a16:creationId xmlns:a16="http://schemas.microsoft.com/office/drawing/2014/main" id="{83F95525-86D3-5AB5-8045-D62ED53261B6}"/>
              </a:ext>
            </a:extLst>
          </p:cNvPr>
          <p:cNvSpPr/>
          <p:nvPr/>
        </p:nvSpPr>
        <p:spPr>
          <a:xfrm>
            <a:off x="441715" y="907498"/>
            <a:ext cx="843940" cy="730392"/>
          </a:xfrm>
          <a:custGeom>
            <a:avLst/>
            <a:gdLst/>
            <a:ahLst/>
            <a:cxnLst/>
            <a:rect l="l" t="t" r="r" b="b"/>
            <a:pathLst>
              <a:path w="843940" h="730392">
                <a:moveTo>
                  <a:pt x="0" y="0"/>
                </a:moveTo>
                <a:lnTo>
                  <a:pt x="843940" y="0"/>
                </a:lnTo>
                <a:lnTo>
                  <a:pt x="843940" y="730392"/>
                </a:lnTo>
                <a:lnTo>
                  <a:pt x="0" y="73039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ko-KR" altLang="en-US"/>
          </a:p>
        </p:txBody>
      </p:sp>
      <p:sp>
        <p:nvSpPr>
          <p:cNvPr id="5" name="TextBox 4">
            <a:extLst>
              <a:ext uri="{FF2B5EF4-FFF2-40B4-BE49-F238E27FC236}">
                <a16:creationId xmlns:a16="http://schemas.microsoft.com/office/drawing/2014/main" id="{6E9A2629-51FF-D78F-3F24-F531DE92B296}"/>
              </a:ext>
            </a:extLst>
          </p:cNvPr>
          <p:cNvSpPr txBox="1"/>
          <p:nvPr/>
        </p:nvSpPr>
        <p:spPr>
          <a:xfrm>
            <a:off x="1285655" y="995695"/>
            <a:ext cx="2212848" cy="553998"/>
          </a:xfrm>
          <a:prstGeom prst="rect">
            <a:avLst/>
          </a:prstGeom>
          <a:noFill/>
        </p:spPr>
        <p:txBody>
          <a:bodyPr wrap="square" rtlCol="0">
            <a:spAutoFit/>
          </a:bodyPr>
          <a:lstStyle/>
          <a:p>
            <a:r>
              <a:rPr lang="en-US" altLang="ko-KR" sz="3000" b="1" dirty="0"/>
              <a:t>mission</a:t>
            </a:r>
            <a:endParaRPr lang="ko-KR" altLang="en-US" sz="3000" b="1" dirty="0"/>
          </a:p>
        </p:txBody>
      </p:sp>
    </p:spTree>
    <p:extLst>
      <p:ext uri="{BB962C8B-B14F-4D97-AF65-F5344CB8AC3E}">
        <p14:creationId xmlns:p14="http://schemas.microsoft.com/office/powerpoint/2010/main" val="17739451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32">
            <a:extLst>
              <a:ext uri="{FF2B5EF4-FFF2-40B4-BE49-F238E27FC236}">
                <a16:creationId xmlns:a16="http://schemas.microsoft.com/office/drawing/2014/main" id="{554F20CB-31CE-6EFA-FAFB-23C64E5615DD}"/>
              </a:ext>
            </a:extLst>
          </p:cNvPr>
          <p:cNvSpPr/>
          <p:nvPr/>
        </p:nvSpPr>
        <p:spPr>
          <a:xfrm>
            <a:off x="441715" y="907498"/>
            <a:ext cx="843940" cy="730392"/>
          </a:xfrm>
          <a:custGeom>
            <a:avLst/>
            <a:gdLst/>
            <a:ahLst/>
            <a:cxnLst/>
            <a:rect l="l" t="t" r="r" b="b"/>
            <a:pathLst>
              <a:path w="843940" h="730392">
                <a:moveTo>
                  <a:pt x="0" y="0"/>
                </a:moveTo>
                <a:lnTo>
                  <a:pt x="843940" y="0"/>
                </a:lnTo>
                <a:lnTo>
                  <a:pt x="843940" y="730392"/>
                </a:lnTo>
                <a:lnTo>
                  <a:pt x="0" y="73039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ko-KR" altLang="en-US"/>
          </a:p>
        </p:txBody>
      </p:sp>
      <p:sp>
        <p:nvSpPr>
          <p:cNvPr id="3" name="TextBox 2">
            <a:extLst>
              <a:ext uri="{FF2B5EF4-FFF2-40B4-BE49-F238E27FC236}">
                <a16:creationId xmlns:a16="http://schemas.microsoft.com/office/drawing/2014/main" id="{A1E16E70-1D84-583E-5D3A-1F02746E8AD1}"/>
              </a:ext>
            </a:extLst>
          </p:cNvPr>
          <p:cNvSpPr txBox="1"/>
          <p:nvPr/>
        </p:nvSpPr>
        <p:spPr>
          <a:xfrm>
            <a:off x="1285655" y="995695"/>
            <a:ext cx="2212848" cy="553998"/>
          </a:xfrm>
          <a:prstGeom prst="rect">
            <a:avLst/>
          </a:prstGeom>
          <a:noFill/>
        </p:spPr>
        <p:txBody>
          <a:bodyPr wrap="square" rtlCol="0">
            <a:spAutoFit/>
          </a:bodyPr>
          <a:lstStyle/>
          <a:p>
            <a:r>
              <a:rPr lang="en-US" altLang="ko-KR" sz="3000" b="1" dirty="0"/>
              <a:t>Syntax</a:t>
            </a:r>
            <a:endParaRPr lang="ko-KR" altLang="en-US" sz="3000" b="1" dirty="0"/>
          </a:p>
        </p:txBody>
      </p:sp>
      <p:sp>
        <p:nvSpPr>
          <p:cNvPr id="5" name="TextBox 4">
            <a:extLst>
              <a:ext uri="{FF2B5EF4-FFF2-40B4-BE49-F238E27FC236}">
                <a16:creationId xmlns:a16="http://schemas.microsoft.com/office/drawing/2014/main" id="{615671EA-4734-2845-FBB9-405E72990640}"/>
              </a:ext>
            </a:extLst>
          </p:cNvPr>
          <p:cNvSpPr txBox="1"/>
          <p:nvPr/>
        </p:nvSpPr>
        <p:spPr>
          <a:xfrm>
            <a:off x="708660" y="2282875"/>
            <a:ext cx="7872984" cy="2691571"/>
          </a:xfrm>
          <a:prstGeom prst="rect">
            <a:avLst/>
          </a:prstGeom>
          <a:noFill/>
        </p:spPr>
        <p:txBody>
          <a:bodyPr wrap="square">
            <a:spAutoFit/>
          </a:bodyPr>
          <a:lstStyle/>
          <a:p>
            <a:pPr marR="0" algn="just" rtl="0">
              <a:lnSpc>
                <a:spcPct val="300000"/>
              </a:lnSpc>
            </a:pPr>
            <a:r>
              <a:rPr lang="en-US" altLang="ko-KR" sz="3000" b="0" i="0" u="none" strike="noStrike" baseline="30000" dirty="0">
                <a:latin typeface="Times New Roman" panose="02020603050405020304" pitchFamily="18" charset="0"/>
              </a:rPr>
              <a:t>For a story to be considered </a:t>
            </a:r>
            <a:r>
              <a:rPr lang="ko-KR" altLang="en-US" sz="3000" b="0" i="0" u="none" strike="noStrike" baseline="30000" dirty="0">
                <a:latin typeface="Times New Roman" panose="02020603050405020304" pitchFamily="18" charset="0"/>
              </a:rPr>
              <a:t>‘</a:t>
            </a:r>
            <a:r>
              <a:rPr lang="en-US" altLang="ko-KR" sz="3000" b="0" i="0" u="none" strike="noStrike" baseline="30000" dirty="0">
                <a:latin typeface="Times New Roman" panose="02020603050405020304" pitchFamily="18" charset="0"/>
              </a:rPr>
              <a:t>fantasy,</a:t>
            </a:r>
            <a:r>
              <a:rPr lang="ko-KR" altLang="en-US" sz="3000" b="0" i="0" u="none" strike="noStrike" baseline="30000" dirty="0">
                <a:latin typeface="Times New Roman" panose="02020603050405020304" pitchFamily="18" charset="0"/>
              </a:rPr>
              <a:t>’ </a:t>
            </a:r>
            <a:r>
              <a:rPr lang="en-US" altLang="ko-KR" sz="3000" b="0" i="0" u="none" strike="noStrike" baseline="30000" dirty="0">
                <a:latin typeface="Times New Roman" panose="02020603050405020304" pitchFamily="18" charset="0"/>
              </a:rPr>
              <a:t>it needs to contain some sort of magic system, in short, things that occur or exist in your story that cannot exist in the real world.</a:t>
            </a:r>
            <a:endParaRPr lang="ko-KR" altLang="en-US" sz="3000" b="0" i="0" u="none" strike="noStrike" baseline="30000" dirty="0">
              <a:latin typeface="Times New Roman" panose="02020603050405020304" pitchFamily="18" charset="0"/>
            </a:endParaRPr>
          </a:p>
        </p:txBody>
      </p:sp>
    </p:spTree>
    <p:extLst>
      <p:ext uri="{BB962C8B-B14F-4D97-AF65-F5344CB8AC3E}">
        <p14:creationId xmlns:p14="http://schemas.microsoft.com/office/powerpoint/2010/main" val="1538761266"/>
      </p:ext>
    </p:extLst>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테마">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10511</TotalTime>
  <Words>288</Words>
  <Application>Microsoft Office PowerPoint</Application>
  <PresentationFormat>화면 슬라이드 쇼(4:3)</PresentationFormat>
  <Paragraphs>18</Paragraphs>
  <Slides>5</Slides>
  <Notes>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5</vt:i4>
      </vt:variant>
    </vt:vector>
  </HeadingPairs>
  <TitlesOfParts>
    <vt:vector size="11" baseType="lpstr">
      <vt:lpstr>AdobeMyungjoStd-Medium</vt:lpstr>
      <vt:lpstr>Pretendard ExtraBold</vt:lpstr>
      <vt:lpstr>맑은 고딕</vt:lpstr>
      <vt:lpstr>Arial</vt:lpstr>
      <vt:lpstr>Times New Roman</vt:lpstr>
      <vt:lpstr>Office Theme</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Suah Ryu</dc:creator>
  <cp:lastModifiedBy>Suah Ryu</cp:lastModifiedBy>
  <cp:revision>12</cp:revision>
  <cp:lastPrinted>2026-03-24T13:56:57Z</cp:lastPrinted>
  <dcterms:created xsi:type="dcterms:W3CDTF">2026-01-14T10:06:52Z</dcterms:created>
  <dcterms:modified xsi:type="dcterms:W3CDTF">2026-03-24T13:57:38Z</dcterms:modified>
</cp:coreProperties>
</file>